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82" r:id="rId4"/>
    <p:sldId id="283" r:id="rId5"/>
    <p:sldId id="284" r:id="rId6"/>
    <p:sldId id="285" r:id="rId7"/>
    <p:sldId id="28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258" r:id="rId31"/>
    <p:sldId id="259" r:id="rId32"/>
    <p:sldId id="260" r:id="rId33"/>
    <p:sldId id="261" r:id="rId34"/>
    <p:sldId id="262" r:id="rId35"/>
    <p:sldId id="263" r:id="rId36"/>
    <p:sldId id="26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C2750-0390-6143-BDBE-819CBF637214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963F1-35AA-A047-9237-14CA3F8C9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15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834E3-C32B-8F08-A82E-74B9D5C54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73300-C614-ED53-FC7A-71E2D852E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E9EC-3AB9-2C03-E2A0-721F5DE7B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880C-5F09-E4DA-E39E-454928E5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488FF-7044-4458-83BE-B5DB388F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1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BB57-3FEC-1DE3-4F10-09DC53C19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D5C6D-3A4E-23C3-F65D-A8134661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C2EAF-7B75-EA4A-3AE6-FBE1AFD8B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76067-7EF0-E67F-3D19-52C8A22A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1F4E8-FB22-08D2-02D6-2DAA9D27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12E4-22CC-0524-AC8F-29A907285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3806F-8131-FDC6-463A-1395367FA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26CBF-F638-FEA8-A658-918AEFD4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9498B-F72B-091F-D512-9903730F8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78501-AA90-FEDF-3B99-88808AABB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4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9F91-0BDD-F71C-D4F4-81927EA3E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FF9AB-85D6-B28C-04CD-2DEA75BA3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3305A-E3DC-323C-8402-08B3F96FF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DDD3D-D64C-DD9E-BF57-0D64F357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3C3F3-111C-67F4-07C7-D8FDF5AA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268BE-9EFF-6E72-7355-9367E0AA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6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7D41-4EC2-81D0-C6A8-7E5BBCA1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97E30-2850-EF70-E040-32BAE77AD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712FA-E237-1A64-0F52-D9811E5F32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074D5-4FB9-2E7A-2BFE-6A8B09879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643850-8672-6D75-4A06-27A5CB7AF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601464-8A0B-0071-A11B-31C64B2D0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B868E-15FE-2EF2-B55E-010F0F1A3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06B3F2-7152-3687-B6E8-71924FEB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19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0EAB-F9FB-416A-BAA0-6375D5146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2AABB-F5C7-4A2F-BA1F-A822EF2A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23890-6A95-4E43-4B0A-7A447E432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70DCD8-CD5E-7722-013F-7FFD8F33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68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209D41-CFA1-4E73-C1D6-6A7C1C8AB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FDA42-00AC-B7B2-3C2E-AB79E24D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92E6C-BD23-E2A2-29C0-9524006CE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6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70C6-C8C2-61B7-000B-5F0147695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BE220-8110-9334-3ECD-495A9DA3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F5793-930D-0943-9883-5DFCB90FE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22EF8-F707-3A56-B5D7-AA045CEA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6F081-AC3C-E218-05D9-7E70B820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73E84-209A-6DE3-9DDE-47E2D029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16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D5BD-BC4E-3F20-0847-8F599852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FB36D-1F63-59BC-46D9-003369F2E0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9078A-E529-5292-1CEE-DA7FA455C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435E6-4101-48D9-DC7E-AB2DB83B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E6A0A-653A-B11E-A879-121EE3506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668A5-49C4-E8DB-91F9-49372D9B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3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B289E-92C7-9041-D826-917B3296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7FC34-EBA6-3215-EE5B-5BB257C2F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0C366-70F1-14C9-2A58-47C46558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A7FC7-16A5-7150-6580-42F74A3C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EA583-3B39-BCB9-F356-685F87E1E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16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E2F38A-5632-93C2-7314-19A5A9DAF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A3B762-1CB6-34C3-10FB-EBC5CCE7E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037A2-93CD-B9E2-C08B-C139FB05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46C07-C58D-631D-FAAB-D8D8AB9D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27855-84E7-FD48-799E-27DD97839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401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CC2EE-A36E-C0A3-718B-2C162BB0F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9B399-167A-F21A-CBD6-8C810F893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6BA0B-6C9D-CA6C-CA13-69A6594D5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55470-B3C4-D540-AE9E-E9B12CAF63AC}" type="datetimeFigureOut">
              <a:rPr lang="en-US" smtClean="0"/>
              <a:t>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CF3A-1E18-1DE5-E75C-145BBFE95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E5F4-77B4-1DF2-07CE-94C5BBE2F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B05A2-8279-034C-9C5E-ACEDFEF7A7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4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tiobe.com/tiobe-index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gle.github.io/styleguide/cppguide.html" TargetMode="External"/><Relationship Id="rId2" Type="http://schemas.openxmlformats.org/officeDocument/2006/relationships/hyperlink" Target="https://github.com/ruslanbektashev/cpp-cour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ACA0-8ADF-31EB-6E99-9E2AF3620D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Проектирование больших систем на С++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F047A-D7C1-C05A-569F-6915DF991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январь 2026</a:t>
            </a:r>
          </a:p>
          <a:p>
            <a:r>
              <a:rPr lang="ru-RU" dirty="0"/>
              <a:t>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94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EF9B-3FD4-7BC4-CE34-2630B901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С++ и 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A918-976E-1DE5-75FA-153572A31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С++ и С в последние 25 лет не покидали первые 5 строчек </a:t>
            </a:r>
            <a:r>
              <a:rPr lang="ru-RU" dirty="0">
                <a:hlinkClick r:id="rId2"/>
              </a:rPr>
              <a:t>рейтинга </a:t>
            </a:r>
            <a:r>
              <a:rPr lang="en-US" dirty="0">
                <a:hlinkClick r:id="rId2"/>
              </a:rPr>
              <a:t>TIOBE</a:t>
            </a:r>
            <a:r>
              <a:rPr lang="ru-RU" dirty="0"/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616DF-7AC3-C181-661C-B0E512DF5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87565"/>
            <a:ext cx="7772400" cy="273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1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0B7E9-C547-5A78-CC55-4D505FF2E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266F-F988-CCDD-46A3-45BCC3221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96FD5-ECFE-2843-F645-11381363D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“One of the things I really like about programming languages is that</a:t>
            </a:r>
            <a:r>
              <a:rPr lang="ru-RU" dirty="0"/>
              <a:t> </a:t>
            </a:r>
            <a:r>
              <a:rPr lang="en-US" dirty="0"/>
              <a:t>it's the perfect excuse to </a:t>
            </a:r>
            <a:r>
              <a:rPr lang="en-US" b="1" dirty="0"/>
              <a:t>stick your nose </a:t>
            </a:r>
            <a:r>
              <a:rPr lang="en-US" dirty="0"/>
              <a:t>into any field. So if you’re</a:t>
            </a:r>
            <a:r>
              <a:rPr lang="ru-RU" dirty="0"/>
              <a:t> </a:t>
            </a:r>
            <a:r>
              <a:rPr lang="en-US" dirty="0"/>
              <a:t>interested in high energy physics and the structure of the universe,</a:t>
            </a:r>
            <a:r>
              <a:rPr lang="ru-RU" dirty="0"/>
              <a:t> </a:t>
            </a:r>
            <a:r>
              <a:rPr lang="en-US" b="1" dirty="0"/>
              <a:t>being a programmer </a:t>
            </a:r>
            <a:r>
              <a:rPr lang="en-US" dirty="0"/>
              <a:t>is one of the best ways to get in there. It’s</a:t>
            </a:r>
            <a:r>
              <a:rPr lang="ru-RU" dirty="0"/>
              <a:t> </a:t>
            </a:r>
            <a:r>
              <a:rPr lang="en-US" dirty="0"/>
              <a:t>probably easier than becoming a theoretical physicist.”</a:t>
            </a:r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ru-RU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B90214A9-26D5-038A-F038-79886DEEC85E}"/>
              </a:ext>
            </a:extLst>
          </p:cNvPr>
          <p:cNvSpPr/>
          <p:nvPr/>
        </p:nvSpPr>
        <p:spPr>
          <a:xfrm>
            <a:off x="740979" y="1825625"/>
            <a:ext cx="84083" cy="2557189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4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90D8-8188-9511-FC2A-DCB236E8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17EA-AFB5-8925-ECC3-F2856D22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545AF-4191-57D4-3084-8C9ED2FC3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Заказчик</a:t>
            </a:r>
            <a:r>
              <a:rPr lang="ru-RU" dirty="0"/>
              <a:t> знает</a:t>
            </a:r>
          </a:p>
          <a:p>
            <a:pPr marL="0" indent="0">
              <a:buNone/>
            </a:pPr>
            <a:r>
              <a:rPr lang="ru-RU" dirty="0"/>
              <a:t>	- бизнес-цели</a:t>
            </a:r>
          </a:p>
          <a:p>
            <a:pPr marL="0" indent="0">
              <a:buNone/>
            </a:pPr>
            <a:r>
              <a:rPr lang="ru-RU" dirty="0"/>
              <a:t>	- как монетизировать</a:t>
            </a:r>
          </a:p>
          <a:p>
            <a:pPr marL="0" indent="0">
              <a:buNone/>
            </a:pPr>
            <a:r>
              <a:rPr lang="ru-RU" dirty="0"/>
              <a:t>	- метрики успеха проекта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Исполнитель</a:t>
            </a:r>
          </a:p>
          <a:p>
            <a:pPr marL="0" indent="0">
              <a:buNone/>
            </a:pPr>
            <a:r>
              <a:rPr lang="ru-RU" dirty="0"/>
              <a:t>	- понимает задачи заказчика</a:t>
            </a:r>
          </a:p>
          <a:p>
            <a:pPr marL="0" indent="0">
              <a:buNone/>
            </a:pPr>
            <a:r>
              <a:rPr lang="ru-RU" dirty="0"/>
              <a:t>	- решает задачи заказчика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027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4E219-107F-6D54-9A6F-009442EA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E48C-1D24-6249-2885-BA0E7133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766A5-341B-1C10-67DD-3CDAAAB90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Мы склонны предполагать, что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чёткая постановка задачи есть (кем-то заранее продумана, или гипотетически достижима и появится в процессе работы)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задача имеет одинаковое решение для всех пользователей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пользователи склонны договариваться о том, что им нужно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известны все пользователи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цели пользователей пригодны к осознанию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518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90BA8-1D40-4DBE-CE33-3941F5E0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EC66D-50CC-2CB7-41B2-22FE6D72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E984D-0891-AC3F-3421-1D081EADD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Мы </a:t>
            </a:r>
            <a:r>
              <a:rPr lang="ru-RU" b="1" dirty="0"/>
              <a:t>НЕ</a:t>
            </a:r>
            <a:r>
              <a:rPr lang="ru-RU" dirty="0"/>
              <a:t> склонны предполагать, что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сменится команда заказчика или исполнителя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у заказчика есть предположения, как должна выглядеть реализация их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пользователь проекта – не программист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недостаточно квалифицированный персонал поддержки эксплуатации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98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A3D3-D856-66A7-FA95-3AD2F1370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A065F-8912-1695-CD7F-9B3671894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17B33-249B-24F7-E205-76A4FBAA9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Лучше формализовать, «не предполагать»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Планируйте риски и ответственность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 доверяйте аналитикам заказчика или персоналу, добирайтесь до самой сути в </a:t>
            </a:r>
            <a:r>
              <a:rPr lang="ru-RU" b="1" dirty="0"/>
              <a:t>сценариях использования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Быстрый старт, строгие ограничения первой версии продукта непосредственно до ввода в эксплуатацию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Приоритеты требований заказчика, </a:t>
            </a:r>
            <a:r>
              <a:rPr lang="ru-RU" b="1" dirty="0"/>
              <a:t>выбираем самое важное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Разделы в ТЗ: «что мы делаем» и «чего мы НЕ делаем»</a:t>
            </a:r>
          </a:p>
        </p:txBody>
      </p:sp>
    </p:spTree>
    <p:extLst>
      <p:ext uri="{BB962C8B-B14F-4D97-AF65-F5344CB8AC3E}">
        <p14:creationId xmlns:p14="http://schemas.microsoft.com/office/powerpoint/2010/main" val="2358600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2B65-F956-B472-D6D9-CBA909E5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F8BC-8B84-CFD5-6300-5B68B717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40F4-6A9A-A0DE-9D41-40AF0687E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Драйвер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Одно конкретное лицо в организации заказчика, который получит материальную вполне определённую пользу от внедрения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Директор – не драйвер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Если драйвер уволился – проект мёртв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Нет драйвера?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Найдите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Откажитесь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Не жадничайте!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88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5059-A482-059E-FE56-A3638C2A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14178-B797-B796-AEEB-8B209C7B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требований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F776-9BFF-72C6-A2CB-7D68C64CE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Результат проекта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Заказчик</a:t>
            </a:r>
            <a:r>
              <a:rPr lang="ru-RU" dirty="0"/>
              <a:t> должен быть </a:t>
            </a:r>
            <a:r>
              <a:rPr lang="ru-RU" b="1" dirty="0"/>
              <a:t>счастлив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Исполнители</a:t>
            </a:r>
            <a:r>
              <a:rPr lang="ru-RU" dirty="0"/>
              <a:t> должны знать, что сделали </a:t>
            </a:r>
            <a:r>
              <a:rPr lang="ru-RU" b="1" dirty="0"/>
              <a:t>стоящее</a:t>
            </a:r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0" indent="0">
              <a:buNone/>
            </a:pPr>
            <a:r>
              <a:rPr lang="ru-RU" b="1" dirty="0"/>
              <a:t>Риски</a:t>
            </a:r>
            <a:r>
              <a:rPr lang="ru-RU" dirty="0"/>
              <a:t> проекта от </a:t>
            </a:r>
            <a:r>
              <a:rPr lang="ru-RU" b="1" dirty="0"/>
              <a:t>неизведанности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r>
              <a:rPr lang="ru-RU" dirty="0"/>
              <a:t>Идеальный (скучный) проект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Исполнитель - эксперт в данной предметной области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Есть у кого консультироваться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Имеются готовые компоненты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Реализация предполагается в рамках одной технологии и сферы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19380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8FB2-E4A7-4761-65F0-06A650C63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22213-705C-465B-60C4-19D098843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C14B6-73F2-9F84-BE81-8815F1A14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Legacy</a:t>
            </a:r>
            <a:r>
              <a:rPr lang="en-US" dirty="0"/>
              <a:t> code often differs from its suggested alternative by actually</a:t>
            </a:r>
            <a:r>
              <a:rPr lang="ru-RU" dirty="0"/>
              <a:t> </a:t>
            </a:r>
            <a:r>
              <a:rPr lang="en-US" b="1" dirty="0"/>
              <a:t>working</a:t>
            </a:r>
            <a:r>
              <a:rPr lang="en-US" dirty="0"/>
              <a:t> and </a:t>
            </a:r>
            <a:r>
              <a:rPr lang="en-US" b="1" dirty="0"/>
              <a:t>scaling</a:t>
            </a:r>
            <a:r>
              <a:rPr lang="en-US" dirty="0"/>
              <a:t>.”</a:t>
            </a:r>
            <a:endParaRPr lang="ru-RU" dirty="0"/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ru-RU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61F9C5E5-0A27-1212-E24D-13680CFB52B0}"/>
              </a:ext>
            </a:extLst>
          </p:cNvPr>
          <p:cNvSpPr/>
          <p:nvPr/>
        </p:nvSpPr>
        <p:spPr>
          <a:xfrm>
            <a:off x="740979" y="1825625"/>
            <a:ext cx="97221" cy="14010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7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EE9B7-A8E8-3699-CA6A-425C225E7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435C5-F013-446E-2592-EA83A0BF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3E446-2EE2-31B2-B432-07C6F23B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58BADD-4A81-FF0C-C0E3-52386AD52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5" t="23919"/>
          <a:stretch>
            <a:fillRect/>
          </a:stretch>
        </p:blipFill>
        <p:spPr>
          <a:xfrm>
            <a:off x="1587061" y="1825625"/>
            <a:ext cx="9017877" cy="4523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26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6B33-0D48-5030-D1E5-5FE14FEA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223F9-BEB8-6E95-5718-C7BB1B1BD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F5090-2DE0-D6F2-19AD-69BEE8402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4B024-07C4-4A39-3510-5E553114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83" t="21257" r="9358" b="3965"/>
          <a:stretch>
            <a:fillRect/>
          </a:stretch>
        </p:blipFill>
        <p:spPr>
          <a:xfrm>
            <a:off x="2243958" y="2071459"/>
            <a:ext cx="7704083" cy="3859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C6D75B-8077-787A-EFC1-D26CD45F535A}"/>
              </a:ext>
            </a:extLst>
          </p:cNvPr>
          <p:cNvSpPr txBox="1"/>
          <p:nvPr/>
        </p:nvSpPr>
        <p:spPr>
          <a:xfrm>
            <a:off x="5176343" y="5942568"/>
            <a:ext cx="193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Модель </a:t>
            </a:r>
            <a:r>
              <a:rPr lang="en-US" dirty="0"/>
              <a:t>Waterfall</a:t>
            </a:r>
          </a:p>
        </p:txBody>
      </p:sp>
    </p:spTree>
    <p:extLst>
      <p:ext uri="{BB962C8B-B14F-4D97-AF65-F5344CB8AC3E}">
        <p14:creationId xmlns:p14="http://schemas.microsoft.com/office/powerpoint/2010/main" val="269229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E0D3-326A-8C58-F630-AFD1D35F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DE28-762F-D02D-472C-AF9452F4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 реализация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0FD0-1E25-A83B-E79F-3B14E0B87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9CAE91-0A37-A0BE-F15D-160CCBB6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04988"/>
            <a:ext cx="7772400" cy="4371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E04900-B27C-9DB0-527C-3806796097E0}"/>
              </a:ext>
            </a:extLst>
          </p:cNvPr>
          <p:cNvSpPr txBox="1"/>
          <p:nvPr/>
        </p:nvSpPr>
        <p:spPr>
          <a:xfrm>
            <a:off x="5344510" y="5992297"/>
            <a:ext cx="1502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Модель </a:t>
            </a:r>
            <a:r>
              <a:rPr lang="en-US" dirty="0"/>
              <a:t>Agile</a:t>
            </a:r>
          </a:p>
        </p:txBody>
      </p:sp>
    </p:spTree>
    <p:extLst>
      <p:ext uri="{BB962C8B-B14F-4D97-AF65-F5344CB8AC3E}">
        <p14:creationId xmlns:p14="http://schemas.microsoft.com/office/powerpoint/2010/main" val="243587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F00A6-092A-9427-6822-82BDDFB5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882A1-A34B-F5DF-48D7-2C394D677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44116-62ED-27D7-26C0-2990FCB3E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“I have always wished for my computer to be </a:t>
            </a:r>
            <a:r>
              <a:rPr lang="en-US" b="1" dirty="0"/>
              <a:t>as easy to use</a:t>
            </a:r>
            <a:r>
              <a:rPr lang="en-US" dirty="0"/>
              <a:t> as my telephone; my wish has come true because I can</a:t>
            </a:r>
            <a:r>
              <a:rPr lang="en-US" b="1" dirty="0"/>
              <a:t> no longer figure out </a:t>
            </a:r>
            <a:r>
              <a:rPr lang="en-US" dirty="0"/>
              <a:t>how to use my telephone.”</a:t>
            </a:r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en-US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1B54681B-37C5-EB2F-A6CD-61F0220D0DFB}"/>
              </a:ext>
            </a:extLst>
          </p:cNvPr>
          <p:cNvSpPr/>
          <p:nvPr/>
        </p:nvSpPr>
        <p:spPr>
          <a:xfrm>
            <a:off x="740979" y="1825626"/>
            <a:ext cx="97221" cy="174789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72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07579-05A9-0323-7F5A-94865F0EF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E4919-FA35-A774-2425-54BFC89F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77F8D-4C42-8D66-7323-9F99D04CA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5A343-647D-BBA4-C3B0-6A938C850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29" y="1825625"/>
            <a:ext cx="6375342" cy="470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019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06587-58BE-8DA4-812C-16BE6326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CEAF7-EC7B-F0FA-3624-76B17D4D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63C21-13AE-2A11-2372-D226151F1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b="1" dirty="0"/>
              <a:t>Разделяй и властвуй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Выделение в задаче ясных и чётких</a:t>
            </a:r>
          </a:p>
          <a:p>
            <a:pPr lvl="1"/>
            <a:r>
              <a:rPr lang="ru-RU" dirty="0"/>
              <a:t>модулей или компонент</a:t>
            </a:r>
          </a:p>
          <a:p>
            <a:pPr lvl="1"/>
            <a:r>
              <a:rPr lang="ru-RU" dirty="0"/>
              <a:t>сущностей или классов</a:t>
            </a:r>
          </a:p>
          <a:p>
            <a:pPr lvl="1"/>
            <a:r>
              <a:rPr lang="ru-RU" dirty="0"/>
              <a:t>отделение реализации от интерфейса</a:t>
            </a:r>
          </a:p>
          <a:p>
            <a:pPr lvl="1"/>
            <a:r>
              <a:rPr lang="ru-RU" dirty="0"/>
              <a:t>выявление всех действий с чётко определёнными каналами взаимодействия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Любое разделение на составляющие выполняется значительно легче, чем их эффективное взаимодействие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Оптимальным уровнем абстракции для программ длительного цикла жизни, является такой, какой вы можете себе представить и воспринять (эмпирическое соображение)</a:t>
            </a:r>
          </a:p>
        </p:txBody>
      </p:sp>
    </p:spTree>
    <p:extLst>
      <p:ext uri="{BB962C8B-B14F-4D97-AF65-F5344CB8AC3E}">
        <p14:creationId xmlns:p14="http://schemas.microsoft.com/office/powerpoint/2010/main" val="1923562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E5BE-7626-6556-4B7C-17B86E51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58F1B-734A-A888-D8BC-4D27FF11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FFD4-5FA0-8CC6-43CA-B8CD88E5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“Maybe "</a:t>
            </a:r>
            <a:r>
              <a:rPr lang="en-US" b="1" dirty="0"/>
              <a:t>just one little global variable</a:t>
            </a:r>
            <a:r>
              <a:rPr lang="en-US" dirty="0"/>
              <a:t>" isn't too unmanageable, but</a:t>
            </a:r>
            <a:r>
              <a:rPr lang="ru-RU" dirty="0"/>
              <a:t> </a:t>
            </a:r>
            <a:r>
              <a:rPr lang="en-US" dirty="0"/>
              <a:t>that style leads to </a:t>
            </a:r>
            <a:r>
              <a:rPr lang="en-US" b="1" dirty="0"/>
              <a:t>code that is useless </a:t>
            </a:r>
            <a:r>
              <a:rPr lang="en-US" dirty="0"/>
              <a:t>except to its original</a:t>
            </a:r>
            <a:r>
              <a:rPr lang="ru-RU" dirty="0"/>
              <a:t> </a:t>
            </a:r>
            <a:r>
              <a:rPr lang="en-US" dirty="0"/>
              <a:t>programmer.”</a:t>
            </a:r>
            <a:endParaRPr lang="ru-RU" dirty="0"/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ru-RU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</p:txBody>
      </p:sp>
      <p:sp>
        <p:nvSpPr>
          <p:cNvPr id="6" name="Rectangle 20">
            <a:extLst>
              <a:ext uri="{FF2B5EF4-FFF2-40B4-BE49-F238E27FC236}">
                <a16:creationId xmlns:a16="http://schemas.microsoft.com/office/drawing/2014/main" id="{D2176A4E-F2F1-F0BF-D2F8-19A86C522038}"/>
              </a:ext>
            </a:extLst>
          </p:cNvPr>
          <p:cNvSpPr/>
          <p:nvPr/>
        </p:nvSpPr>
        <p:spPr>
          <a:xfrm>
            <a:off x="740979" y="1825626"/>
            <a:ext cx="97221" cy="174789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2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AED7-3DD0-1953-8D8B-4E84D61E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3909D-C29F-F5EE-1F71-4341D366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BE5AA-9841-A874-4B40-700C6939A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Самые важные решения</a:t>
            </a:r>
          </a:p>
          <a:p>
            <a:pPr lvl="1"/>
            <a:r>
              <a:rPr lang="ru-RU" dirty="0"/>
              <a:t>Решения бывают разные, на разных уровнях абстракции, масштабах</a:t>
            </a:r>
          </a:p>
          <a:p>
            <a:pPr lvl="1"/>
            <a:r>
              <a:rPr lang="ru-RU" dirty="0"/>
              <a:t>Как не ослепнуть? Как не запутаться во всём множестве всевозможных решений?</a:t>
            </a:r>
          </a:p>
          <a:p>
            <a:pPr lvl="1"/>
            <a:r>
              <a:rPr lang="ru-RU" dirty="0"/>
              <a:t>Могу ли я это решение отложить?</a:t>
            </a:r>
          </a:p>
          <a:p>
            <a:pPr lvl="1"/>
            <a:r>
              <a:rPr lang="ru-RU" dirty="0"/>
              <a:t>Могу ли я это решение делегировать студенту?</a:t>
            </a:r>
          </a:p>
          <a:p>
            <a:pPr marL="0" indent="0">
              <a:buNone/>
            </a:pPr>
            <a:r>
              <a:rPr lang="ru-RU" dirty="0"/>
              <a:t>Приоритеты</a:t>
            </a:r>
          </a:p>
          <a:p>
            <a:pPr lvl="1"/>
            <a:r>
              <a:rPr lang="ru-RU" b="1" dirty="0"/>
              <a:t>Не делаем лишнего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Фокус, а остальное бесполезно.</a:t>
            </a:r>
          </a:p>
          <a:p>
            <a:pPr lvl="1"/>
            <a:r>
              <a:rPr lang="ru-RU" dirty="0"/>
              <a:t>Требования.</a:t>
            </a:r>
          </a:p>
          <a:p>
            <a:pPr marL="0" indent="0">
              <a:buNone/>
            </a:pPr>
            <a:r>
              <a:rPr lang="ru-RU" dirty="0"/>
              <a:t>Как описывать?</a:t>
            </a:r>
          </a:p>
          <a:p>
            <a:pPr lvl="1"/>
            <a:r>
              <a:rPr lang="ru-RU" dirty="0"/>
              <a:t>Документация.</a:t>
            </a:r>
          </a:p>
          <a:p>
            <a:pPr lvl="1"/>
            <a:r>
              <a:rPr lang="ru-RU" dirty="0"/>
              <a:t>Пояснительные записки. </a:t>
            </a:r>
            <a:r>
              <a:rPr lang="ru-RU" b="1" dirty="0"/>
              <a:t>Почему выбрали именно это?</a:t>
            </a:r>
          </a:p>
        </p:txBody>
      </p:sp>
    </p:spTree>
    <p:extLst>
      <p:ext uri="{BB962C8B-B14F-4D97-AF65-F5344CB8AC3E}">
        <p14:creationId xmlns:p14="http://schemas.microsoft.com/office/powerpoint/2010/main" val="3773498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19869-26DC-386E-7AFA-89CFB2F2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411E-51A8-00B6-7330-394211CD6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FC42-4D6A-F1C7-CC7A-65090692A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Используем готовые решения</a:t>
            </a:r>
          </a:p>
          <a:p>
            <a:pPr marL="0" indent="0">
              <a:buNone/>
            </a:pPr>
            <a:r>
              <a:rPr lang="ru-RU" dirty="0"/>
              <a:t>Диаграмма классов</a:t>
            </a:r>
          </a:p>
          <a:p>
            <a:pPr lvl="1"/>
            <a:r>
              <a:rPr lang="ru-RU" b="1" dirty="0"/>
              <a:t>Предметная модель</a:t>
            </a:r>
            <a:r>
              <a:rPr lang="ru-RU" dirty="0"/>
              <a:t> (</a:t>
            </a:r>
            <a:r>
              <a:rPr lang="en-US" dirty="0"/>
              <a:t>Domain Design, </a:t>
            </a:r>
            <a:r>
              <a:rPr lang="ru-RU" dirty="0"/>
              <a:t>которую симулировать классами) – Фаулер</a:t>
            </a:r>
          </a:p>
          <a:p>
            <a:pPr lvl="1"/>
            <a:r>
              <a:rPr lang="ru-RU" b="1" dirty="0"/>
              <a:t>Искусственные классы </a:t>
            </a:r>
            <a:r>
              <a:rPr lang="ru-RU" dirty="0"/>
              <a:t>– </a:t>
            </a:r>
            <a:r>
              <a:rPr lang="ru-RU" dirty="0" err="1"/>
              <a:t>Ларман</a:t>
            </a:r>
            <a:endParaRPr lang="ru-RU" dirty="0"/>
          </a:p>
          <a:p>
            <a:pPr lvl="1"/>
            <a:r>
              <a:rPr lang="ru-RU" b="1" dirty="0"/>
              <a:t>Шаблоны проектирования </a:t>
            </a:r>
            <a:r>
              <a:rPr lang="ru-RU" dirty="0"/>
              <a:t>– Банда Четырёх</a:t>
            </a:r>
          </a:p>
          <a:p>
            <a:pPr marL="0" indent="0">
              <a:buNone/>
            </a:pPr>
            <a:r>
              <a:rPr lang="ru-RU" dirty="0"/>
              <a:t>Диаграмма обработки</a:t>
            </a:r>
          </a:p>
          <a:p>
            <a:pPr lvl="1"/>
            <a:r>
              <a:rPr lang="ru-RU" b="1" dirty="0"/>
              <a:t>Алгоритмы </a:t>
            </a:r>
            <a:r>
              <a:rPr lang="ru-RU" dirty="0"/>
              <a:t>– Кнут, Корман</a:t>
            </a:r>
          </a:p>
          <a:p>
            <a:pPr lvl="1"/>
            <a:r>
              <a:rPr lang="ru-RU" b="1" dirty="0"/>
              <a:t>Последовательности обработки классов </a:t>
            </a:r>
            <a:r>
              <a:rPr lang="ru-RU" dirty="0"/>
              <a:t>(</a:t>
            </a:r>
            <a:r>
              <a:rPr lang="en-US" dirty="0"/>
              <a:t>sequences)</a:t>
            </a:r>
          </a:p>
          <a:p>
            <a:pPr marL="0" indent="0">
              <a:buNone/>
            </a:pPr>
            <a:r>
              <a:rPr lang="ru-RU" dirty="0" err="1"/>
              <a:t>Распределённость</a:t>
            </a:r>
            <a:r>
              <a:rPr lang="ru-RU" dirty="0"/>
              <a:t> обработки</a:t>
            </a:r>
          </a:p>
          <a:p>
            <a:pPr lvl="1"/>
            <a:r>
              <a:rPr lang="ru-RU" b="1" dirty="0"/>
              <a:t>Модель многопоточного взаимодействия</a:t>
            </a:r>
            <a:r>
              <a:rPr lang="ru-RU" dirty="0"/>
              <a:t> (</a:t>
            </a:r>
            <a:r>
              <a:rPr lang="en-US" dirty="0"/>
              <a:t>Concurrence Design)</a:t>
            </a:r>
          </a:p>
          <a:p>
            <a:pPr lvl="1"/>
            <a:r>
              <a:rPr lang="ru-RU" dirty="0"/>
              <a:t>Корректное многопоточное приложение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574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F174A-7B9C-545D-4AB2-57B813E2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6966-61F0-9CEE-BA25-49DB66F8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C314B-F270-07D5-7DCE-173C7B193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Влияние прошлого опыта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Ну, что здесь может быть на так?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Фокус не на том, что нужно (критично важно) для проекта, но на том что кажется сложным для вас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Исправить все известные проблемы прошлых проектов в данном проекте</a:t>
            </a:r>
          </a:p>
        </p:txBody>
      </p:sp>
    </p:spTree>
    <p:extLst>
      <p:ext uri="{BB962C8B-B14F-4D97-AF65-F5344CB8AC3E}">
        <p14:creationId xmlns:p14="http://schemas.microsoft.com/office/powerpoint/2010/main" val="2624169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3E04-1EE9-FFE3-5013-E7BB7D32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72D0-8AAE-AB42-0E50-33918FAE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BDAB3-6569-FF9E-F3CC-061159D4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Метрики</a:t>
            </a:r>
          </a:p>
          <a:p>
            <a:r>
              <a:rPr lang="ru-RU" dirty="0"/>
              <a:t>эффективность</a:t>
            </a:r>
          </a:p>
          <a:p>
            <a:r>
              <a:rPr lang="ru-RU" dirty="0" err="1"/>
              <a:t>поддерживаемость</a:t>
            </a:r>
            <a:endParaRPr lang="ru-RU" dirty="0"/>
          </a:p>
          <a:p>
            <a:r>
              <a:rPr lang="ru-RU" dirty="0"/>
              <a:t>масштабируемость</a:t>
            </a:r>
          </a:p>
          <a:p>
            <a:r>
              <a:rPr lang="ru-RU" dirty="0"/>
              <a:t>безотказность</a:t>
            </a:r>
          </a:p>
          <a:p>
            <a:r>
              <a:rPr lang="ru-RU" dirty="0"/>
              <a:t>тестируемость</a:t>
            </a:r>
          </a:p>
          <a:p>
            <a:r>
              <a:rPr lang="ru-RU" dirty="0" err="1"/>
              <a:t>переиспользуемость</a:t>
            </a:r>
            <a:endParaRPr lang="ru-RU" dirty="0"/>
          </a:p>
          <a:p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2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0AC5-CF78-87C9-6806-7978666B4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071B-593E-3487-4ECA-0005831C2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669AF-CCD6-869E-FA9F-18329204F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Как понять то, что неизвестно?</a:t>
            </a:r>
          </a:p>
          <a:p>
            <a:r>
              <a:rPr lang="ru-RU" b="1" dirty="0"/>
              <a:t>Внешние эксперты</a:t>
            </a:r>
          </a:p>
          <a:p>
            <a:r>
              <a:rPr lang="ru-RU" b="1" dirty="0"/>
              <a:t>Экспериментирование</a:t>
            </a:r>
          </a:p>
          <a:p>
            <a:pPr lvl="1"/>
            <a:r>
              <a:rPr lang="ru-RU" b="1" dirty="0"/>
              <a:t>Прототипирование</a:t>
            </a:r>
          </a:p>
          <a:p>
            <a:pPr lvl="2"/>
            <a:r>
              <a:rPr lang="ru-RU" dirty="0"/>
              <a:t>Желаемый результат – проникновение в проблему</a:t>
            </a:r>
          </a:p>
          <a:p>
            <a:pPr lvl="2"/>
            <a:r>
              <a:rPr lang="ru-RU" dirty="0"/>
              <a:t>Никаких жёстких требований к быстродействию и ресурсам системы – фокус на непонятных частых системы</a:t>
            </a:r>
          </a:p>
          <a:p>
            <a:pPr lvl="2"/>
            <a:r>
              <a:rPr lang="ru-RU" dirty="0"/>
              <a:t>Рабочая версия в кратчайшие сроки вместо исследования проектных альтернатив («иллюзия почти-завершённости»)</a:t>
            </a:r>
          </a:p>
          <a:p>
            <a:pPr lvl="2"/>
            <a:r>
              <a:rPr lang="ru-RU" dirty="0"/>
              <a:t>После использования прототип нужно выбросить</a:t>
            </a:r>
          </a:p>
          <a:p>
            <a:pPr lvl="2"/>
            <a:r>
              <a:rPr lang="ru-RU" dirty="0"/>
              <a:t>Прототип, превращённый в конечный продукт – пожиратель энергии и времени</a:t>
            </a:r>
          </a:p>
          <a:p>
            <a:pPr lvl="1"/>
            <a:r>
              <a:rPr lang="ru-RU" b="1" dirty="0"/>
              <a:t>Математические модели/симуляторы</a:t>
            </a:r>
          </a:p>
          <a:p>
            <a:pPr lvl="2"/>
            <a:r>
              <a:rPr lang="ru-RU" dirty="0"/>
              <a:t>Строгие, доказательные</a:t>
            </a:r>
          </a:p>
          <a:p>
            <a:r>
              <a:rPr lang="ru-RU" b="1" dirty="0"/>
              <a:t>Перепроектирование готовых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842082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828F8-7D5B-ABE5-6F38-EAF27C7FD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E418-15CB-01A1-E402-0E0046D0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91FDE-BC6F-6BC1-8AE2-48A1AD0EE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Реальность</a:t>
            </a:r>
          </a:p>
          <a:p>
            <a:r>
              <a:rPr lang="ru-RU" b="1" dirty="0"/>
              <a:t>Требования изменились</a:t>
            </a:r>
          </a:p>
          <a:p>
            <a:pPr lvl="1"/>
            <a:r>
              <a:rPr lang="ru-RU" dirty="0"/>
              <a:t>Если нужная гибкость изначально не вложена в реализацию, что-то изменить становится очень сложно</a:t>
            </a:r>
          </a:p>
          <a:p>
            <a:r>
              <a:rPr lang="ru-RU" b="1" dirty="0"/>
              <a:t>Бесконечно переделывать системы</a:t>
            </a:r>
          </a:p>
          <a:p>
            <a:pPr lvl="1"/>
            <a:r>
              <a:rPr lang="ru-RU" dirty="0"/>
              <a:t>Если систему переделывать не нужно</a:t>
            </a:r>
          </a:p>
          <a:p>
            <a:pPr lvl="1"/>
            <a:r>
              <a:rPr lang="ru-RU" dirty="0"/>
              <a:t>Значит новые фичи не нужны</a:t>
            </a:r>
          </a:p>
          <a:p>
            <a:pPr lvl="1"/>
            <a:r>
              <a:rPr lang="ru-RU" dirty="0"/>
              <a:t>Значит продукты никто не использует (либо круг пользователей и задач сильно ограничен)</a:t>
            </a:r>
          </a:p>
          <a:p>
            <a:r>
              <a:rPr lang="ru-RU" b="1" dirty="0"/>
              <a:t>Делай проще и легче</a:t>
            </a:r>
          </a:p>
          <a:p>
            <a:pPr lvl="1"/>
            <a:r>
              <a:rPr lang="ru-RU" dirty="0"/>
              <a:t>Потому что всё равно придётся переделывать</a:t>
            </a:r>
          </a:p>
          <a:p>
            <a:pPr lvl="1"/>
            <a:r>
              <a:rPr lang="ru-RU" dirty="0"/>
              <a:t>Нельзя предугадать всё</a:t>
            </a:r>
          </a:p>
          <a:p>
            <a:pPr lvl="1"/>
            <a:r>
              <a:rPr lang="ru-RU" dirty="0"/>
              <a:t>Куда в итоге нужно будет переделывать узнать невозможно</a:t>
            </a:r>
          </a:p>
        </p:txBody>
      </p:sp>
    </p:spTree>
    <p:extLst>
      <p:ext uri="{BB962C8B-B14F-4D97-AF65-F5344CB8AC3E}">
        <p14:creationId xmlns:p14="http://schemas.microsoft.com/office/powerpoint/2010/main" val="2610443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410C1-E676-5CE2-2171-65670764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9D40-2B18-4044-9DB3-698EBC969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24FD-8BF3-9D68-614C-E0B7D2399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Эффективность</a:t>
            </a:r>
          </a:p>
          <a:p>
            <a:r>
              <a:rPr lang="ru-RU" dirty="0"/>
              <a:t>«</a:t>
            </a:r>
            <a:r>
              <a:rPr lang="ru-RU" b="1" dirty="0"/>
              <a:t>Преждевременная оптимизация - корень всех зол</a:t>
            </a:r>
            <a:r>
              <a:rPr lang="ru-RU" dirty="0"/>
              <a:t>» </a:t>
            </a:r>
            <a:br>
              <a:rPr lang="ru-RU" dirty="0"/>
            </a:br>
            <a:r>
              <a:rPr lang="ru-RU" dirty="0"/>
              <a:t>-- Дональд Кнут</a:t>
            </a:r>
          </a:p>
          <a:p>
            <a:pPr lvl="1"/>
            <a:r>
              <a:rPr lang="ru-RU" dirty="0"/>
              <a:t>Ясная структура проекта, оставшаяся после многих итераций его переработки, помогает в нахождении узких мест и располагает к анализу эффективности</a:t>
            </a:r>
          </a:p>
          <a:p>
            <a:pPr lvl="1"/>
            <a:r>
              <a:rPr lang="ru-RU" dirty="0"/>
              <a:t>Но зло – не любая оптимизация.</a:t>
            </a:r>
          </a:p>
          <a:p>
            <a:r>
              <a:rPr lang="ru-RU" dirty="0"/>
              <a:t>«</a:t>
            </a:r>
            <a:r>
              <a:rPr lang="ru-RU" b="1" dirty="0"/>
              <a:t>Сначала измеряй – потом меняй</a:t>
            </a:r>
            <a:r>
              <a:rPr lang="ru-RU" dirty="0"/>
              <a:t>»</a:t>
            </a:r>
          </a:p>
          <a:p>
            <a:pPr lvl="1"/>
            <a:r>
              <a:rPr lang="ru-RU" dirty="0"/>
              <a:t>Интуиция разработчика часто обманчива</a:t>
            </a:r>
          </a:p>
          <a:p>
            <a:pPr lvl="1"/>
            <a:r>
              <a:rPr lang="ru-RU" dirty="0"/>
              <a:t>Необходимо методично избегать в коде программы неэффективных конструкций, или требующих много сил для придания им эффективности</a:t>
            </a:r>
          </a:p>
        </p:txBody>
      </p:sp>
    </p:spTree>
    <p:extLst>
      <p:ext uri="{BB962C8B-B14F-4D97-AF65-F5344CB8AC3E}">
        <p14:creationId xmlns:p14="http://schemas.microsoft.com/office/powerpoint/2010/main" val="335554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5EBB-314C-63A9-8F2F-5739EDED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2810-5893-FED8-AD00-1077E0849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DFCC-05AF-5EBA-29F6-825DDF772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b="1" dirty="0"/>
              <a:t>C</a:t>
            </a:r>
            <a:r>
              <a:rPr lang="en-US" dirty="0"/>
              <a:t> makes it easy to </a:t>
            </a:r>
            <a:r>
              <a:rPr lang="en-US" b="1" dirty="0"/>
              <a:t>shoot yourself in the foot</a:t>
            </a:r>
            <a:r>
              <a:rPr lang="en-US" dirty="0"/>
              <a:t>; </a:t>
            </a:r>
            <a:br>
              <a:rPr lang="en-US" dirty="0"/>
            </a:br>
            <a:r>
              <a:rPr lang="en-US" dirty="0"/>
              <a:t>  </a:t>
            </a:r>
            <a:r>
              <a:rPr lang="ru-RU" b="1" dirty="0"/>
              <a:t>С++ </a:t>
            </a:r>
            <a:r>
              <a:rPr lang="en-US" dirty="0"/>
              <a:t>makes it harder, but when you do it </a:t>
            </a:r>
            <a:r>
              <a:rPr lang="en-US" b="1" dirty="0"/>
              <a:t>blows your whole leg off</a:t>
            </a:r>
            <a:r>
              <a:rPr lang="en-US" dirty="0"/>
              <a:t>.”</a:t>
            </a:r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en-US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8DFED181-9C08-3C27-1945-BA30318EDC6B}"/>
              </a:ext>
            </a:extLst>
          </p:cNvPr>
          <p:cNvSpPr/>
          <p:nvPr/>
        </p:nvSpPr>
        <p:spPr>
          <a:xfrm>
            <a:off x="740979" y="1825626"/>
            <a:ext cx="97221" cy="14010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10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F07D-0466-0E8D-C2DF-7A289A6D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5892-11C1-AFD8-A1E1-631831D8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B382C-4B9B-BF92-E140-B834D640B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Как тестировать</a:t>
            </a:r>
            <a:r>
              <a:rPr lang="ru-RU" dirty="0"/>
              <a:t>?</a:t>
            </a:r>
          </a:p>
          <a:p>
            <a:pPr lvl="1"/>
            <a:r>
              <a:rPr lang="en-US" dirty="0"/>
              <a:t>unit-</a:t>
            </a:r>
            <a:r>
              <a:rPr lang="ru-RU" dirty="0"/>
              <a:t>тесты, функциональные тесты, нагрузочные тесты, …</a:t>
            </a:r>
          </a:p>
          <a:p>
            <a:pPr lvl="1"/>
            <a:r>
              <a:rPr lang="en-US" dirty="0"/>
              <a:t>CI/CD, </a:t>
            </a:r>
            <a:r>
              <a:rPr lang="ru-RU" dirty="0"/>
              <a:t>регрессии</a:t>
            </a:r>
          </a:p>
          <a:p>
            <a:r>
              <a:rPr lang="ru-RU" b="1" dirty="0"/>
              <a:t>Когда тестировать</a:t>
            </a:r>
            <a:r>
              <a:rPr lang="ru-RU" dirty="0"/>
              <a:t>?</a:t>
            </a:r>
          </a:p>
          <a:p>
            <a:pPr lvl="1"/>
            <a:r>
              <a:rPr lang="ru-RU" dirty="0"/>
              <a:t>как можно раньше и чаще</a:t>
            </a:r>
          </a:p>
          <a:p>
            <a:pPr lvl="1"/>
            <a:r>
              <a:rPr lang="en-US" dirty="0"/>
              <a:t>TDD</a:t>
            </a:r>
          </a:p>
          <a:p>
            <a:r>
              <a:rPr lang="ru-RU" b="1" dirty="0"/>
              <a:t>Покрытие</a:t>
            </a:r>
          </a:p>
          <a:p>
            <a:pPr lvl="1"/>
            <a:r>
              <a:rPr lang="ru-RU" dirty="0"/>
              <a:t>измеряем, но всё не покроете</a:t>
            </a:r>
          </a:p>
          <a:p>
            <a:r>
              <a:rPr lang="ru-RU" dirty="0"/>
              <a:t>Количество ресурсов, выделенных под тестирование по сравнению с проектированием и реализацией зависит от природы системы</a:t>
            </a:r>
          </a:p>
          <a:p>
            <a:endParaRPr lang="ru-RU" dirty="0"/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38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1385-67F0-613E-F796-3A08B28A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1347-00EB-61D3-C875-AFB76BFE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65330-D7C5-24DA-0DF2-74DC93FFB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Проект системы должен вселять уверенность, что абсолютное большинство ошибок будет устранено комбинацией статических проверок, статического анализа, модульного тестирования и тестирования системы в целом</a:t>
            </a:r>
          </a:p>
          <a:p>
            <a:r>
              <a:rPr lang="ru-RU" dirty="0"/>
              <a:t>Стратегия тестирования должна быть частью общего проекта.</a:t>
            </a:r>
          </a:p>
          <a:p>
            <a:pPr lvl="1"/>
            <a:r>
              <a:rPr lang="ru-RU" dirty="0"/>
              <a:t>при регрессии фича не попадает в релиз</a:t>
            </a:r>
          </a:p>
          <a:p>
            <a:pPr lvl="1"/>
            <a:r>
              <a:rPr lang="ru-RU" dirty="0"/>
              <a:t>журналирование изменений состояний</a:t>
            </a:r>
          </a:p>
          <a:p>
            <a:r>
              <a:rPr lang="ru-RU" dirty="0"/>
              <a:t>Как только систему можно запустить – </a:t>
            </a:r>
            <a:r>
              <a:rPr lang="ru-RU" b="1" dirty="0"/>
              <a:t>нужно начать тестирование</a:t>
            </a:r>
          </a:p>
          <a:p>
            <a:pPr lvl="1"/>
            <a:r>
              <a:rPr lang="ru-RU" dirty="0"/>
              <a:t>а </a:t>
            </a:r>
            <a:r>
              <a:rPr lang="en-US" dirty="0"/>
              <a:t>unit-</a:t>
            </a:r>
            <a:r>
              <a:rPr lang="ru-RU" dirty="0"/>
              <a:t>тесты – еще раньше!</a:t>
            </a:r>
          </a:p>
          <a:p>
            <a:r>
              <a:rPr lang="ru-RU" dirty="0"/>
              <a:t>Дополнительный тестирующий код, легко может быть удалён из конечной версии системы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63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4E4A7-40F4-F820-16F2-5D62B41E6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C5F2-0A4C-676D-0909-4F340157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90398-1FB0-32A6-3367-EAB5EA275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“If you do anything useful it will haunt you forever after, and if you have</a:t>
            </a:r>
            <a:r>
              <a:rPr lang="ru-RU" dirty="0"/>
              <a:t> </a:t>
            </a:r>
            <a:r>
              <a:rPr lang="en-US" dirty="0"/>
              <a:t>a major success you get decades of </a:t>
            </a:r>
            <a:r>
              <a:rPr lang="en-US" b="1" dirty="0"/>
              <a:t>hard manual labor </a:t>
            </a:r>
            <a:r>
              <a:rPr lang="en-US" dirty="0"/>
              <a:t>- meaning you</a:t>
            </a:r>
            <a:r>
              <a:rPr lang="ru-RU" dirty="0"/>
              <a:t> </a:t>
            </a:r>
            <a:r>
              <a:rPr lang="en-US" dirty="0"/>
              <a:t>have to work on the </a:t>
            </a:r>
            <a:r>
              <a:rPr lang="en-US" b="1" dirty="0"/>
              <a:t>manual</a:t>
            </a:r>
            <a:r>
              <a:rPr lang="en-US" dirty="0"/>
              <a:t>.”</a:t>
            </a:r>
            <a:endParaRPr lang="ru-RU" dirty="0"/>
          </a:p>
          <a:p>
            <a:pPr marL="0" indent="0">
              <a:buNone/>
            </a:pPr>
            <a:r>
              <a:rPr lang="en-US" altLang="en-US" dirty="0"/>
              <a:t>—</a:t>
            </a:r>
            <a:r>
              <a:rPr lang="ru-RU" dirty="0"/>
              <a:t> </a:t>
            </a:r>
            <a:r>
              <a:rPr lang="ru-RU" b="1" dirty="0" err="1"/>
              <a:t>Бьёрн</a:t>
            </a:r>
            <a:r>
              <a:rPr lang="ru-RU" b="1" dirty="0"/>
              <a:t> Страуструп</a:t>
            </a:r>
            <a:endParaRPr lang="en-US" b="1" dirty="0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6EFC86E6-E859-2E36-E18D-92C161FC5339}"/>
              </a:ext>
            </a:extLst>
          </p:cNvPr>
          <p:cNvSpPr/>
          <p:nvPr/>
        </p:nvSpPr>
        <p:spPr>
          <a:xfrm>
            <a:off x="740979" y="1825626"/>
            <a:ext cx="97221" cy="174789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9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B8FE6-50A1-865D-88B3-75656214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393C-6D52-A3AE-9158-697876D0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Документация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3C6D8-61AE-255F-B30C-CE34FA173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первую очередь документируем </a:t>
            </a:r>
            <a:r>
              <a:rPr lang="ru-RU" b="1" dirty="0"/>
              <a:t>каждый класс и публичный интерфейс</a:t>
            </a:r>
            <a:r>
              <a:rPr lang="ru-RU" dirty="0"/>
              <a:t>, затем – остальное.</a:t>
            </a:r>
          </a:p>
          <a:p>
            <a:pPr marL="0" indent="0">
              <a:buNone/>
            </a:pPr>
            <a:r>
              <a:rPr lang="ru-RU" dirty="0"/>
              <a:t>Инструменты</a:t>
            </a:r>
          </a:p>
          <a:p>
            <a:pPr lvl="1"/>
            <a:r>
              <a:rPr lang="en-US" dirty="0" err="1"/>
              <a:t>Doxygen</a:t>
            </a:r>
            <a:r>
              <a:rPr lang="en-US" dirty="0"/>
              <a:t>, Sphinx</a:t>
            </a:r>
          </a:p>
          <a:p>
            <a:pPr lvl="1"/>
            <a:r>
              <a:rPr lang="en-US" dirty="0" err="1"/>
              <a:t>PlantUML</a:t>
            </a:r>
            <a:r>
              <a:rPr lang="en-US" dirty="0"/>
              <a:t>, Mermaid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 учесть</a:t>
            </a:r>
          </a:p>
          <a:p>
            <a:pPr lvl="1"/>
            <a:r>
              <a:rPr lang="ru-RU" dirty="0"/>
              <a:t>предназначение и конкретную реализацию</a:t>
            </a:r>
          </a:p>
          <a:p>
            <a:pPr lvl="1"/>
            <a:r>
              <a:rPr lang="ru-RU" dirty="0"/>
              <a:t>входные, выходные данные</a:t>
            </a:r>
          </a:p>
          <a:p>
            <a:pPr lvl="1"/>
            <a:r>
              <a:rPr lang="ru-RU" dirty="0"/>
              <a:t>исключения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40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5AE17-40DA-49E1-3ED2-4EBC80064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1122-F3DC-91EF-172F-F10A7A95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3C354-453A-FAC4-EC83-6876B7E80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i="1" dirty="0"/>
          </a:p>
          <a:p>
            <a:pPr marL="0" indent="0" algn="ctr">
              <a:buNone/>
            </a:pPr>
            <a:r>
              <a:rPr lang="ru-RU" i="1" dirty="0"/>
              <a:t>Все в архитектуре программного обеспечения соткано из компромиссов.</a:t>
            </a:r>
            <a:endParaRPr lang="en-US" i="1" dirty="0"/>
          </a:p>
          <a:p>
            <a:pPr marL="0" indent="0" algn="r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Первый закон архитектуры ПО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i="1" dirty="0"/>
              <a:t>Почему важнее, чем как.</a:t>
            </a:r>
          </a:p>
          <a:p>
            <a:pPr marL="0" indent="0" algn="r">
              <a:buNone/>
            </a:pPr>
            <a:r>
              <a:rPr lang="ru-RU" sz="1800" dirty="0">
                <a:solidFill>
                  <a:schemeClr val="bg1">
                    <a:lumMod val="50000"/>
                  </a:schemeClr>
                </a:solidFill>
              </a:rPr>
              <a:t>Второй закон архитектуры ПО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00AA5-5E8A-089B-3E56-E3FEE24DD408}"/>
              </a:ext>
            </a:extLst>
          </p:cNvPr>
          <p:cNvSpPr txBox="1"/>
          <p:nvPr/>
        </p:nvSpPr>
        <p:spPr>
          <a:xfrm>
            <a:off x="2154621" y="6176963"/>
            <a:ext cx="788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М. Ричардс, Н. Форд «Фундаментальный подход к программной архитектуре»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76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5ABD-C21B-BF2C-DD59-00F745694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7113A-7DBE-DF41-4121-E2E1F008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ждут от архитектора ПО?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AA88-12E7-4B32-E08D-A3DEDF526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принятие архитектурных решений</a:t>
            </a:r>
          </a:p>
          <a:p>
            <a:r>
              <a:rPr lang="ru-RU" dirty="0"/>
              <a:t>постоянный анализ архитектуры</a:t>
            </a:r>
          </a:p>
          <a:p>
            <a:r>
              <a:rPr lang="ru-RU" b="1" dirty="0"/>
              <a:t>своевременное следование последним тенденциям</a:t>
            </a:r>
          </a:p>
          <a:p>
            <a:r>
              <a:rPr lang="ru-RU" dirty="0"/>
              <a:t>контроль за выполнением принятых решений</a:t>
            </a:r>
          </a:p>
          <a:p>
            <a:r>
              <a:rPr lang="ru-RU" b="1" dirty="0"/>
              <a:t>обладание обширными знаниями и опытом</a:t>
            </a:r>
          </a:p>
          <a:p>
            <a:r>
              <a:rPr lang="ru-RU" dirty="0"/>
              <a:t>компетентность в нужной области бизнеса</a:t>
            </a:r>
          </a:p>
          <a:p>
            <a:r>
              <a:rPr lang="ru-RU" dirty="0"/>
              <a:t>владение навыками межличностного общения</a:t>
            </a:r>
          </a:p>
          <a:p>
            <a:r>
              <a:rPr lang="ru-RU" dirty="0"/>
              <a:t>четкое понимание политики компании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52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CE8A-517C-32CC-176E-6241CDFCC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07C7-87BB-3208-0B9E-5105398B4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87644-93B6-5675-4376-8AA8A86BE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56BC36-A3D8-8AEB-38D5-D6BEAE6B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27388"/>
            <a:ext cx="7772400" cy="29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7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5265B-FBFD-6B4A-EDBE-68814E858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1AB4-3596-ED4D-807B-B87F2497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3FE0-952D-D6C2-E6FF-D2B4CFEB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D04213-B0D9-F841-ACB3-16574F3AF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27388"/>
            <a:ext cx="7772400" cy="29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21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4FD07-AB49-AE26-D15D-CF43E11A5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D314-72F8-05A3-7D31-6D61F1976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2312-9D04-095A-2211-D0DA3DB3E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DD5B29-EFFE-82CC-5153-9B5AC77C3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74261"/>
            <a:ext cx="7772400" cy="48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714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CC19F-6BD9-F1F3-2AC0-7C936FAF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D422-387B-62C0-3DB3-BC11E6F7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8DC95-B028-F8A0-D921-E8678BEA7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AE92C-A607-ECE4-A272-50828C466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69411"/>
            <a:ext cx="7772400" cy="166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420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81C6E-46FD-8ADD-94E5-BD7ADB7D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1077F-FB9A-68E8-E851-081B97874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Самостоятельная работа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6FF69-ED5F-E3DB-4B22-18593BC0C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Форкнуть</a:t>
            </a:r>
            <a:r>
              <a:rPr lang="ru-RU" dirty="0"/>
              <a:t> </a:t>
            </a:r>
            <a:r>
              <a:rPr lang="ru-RU" dirty="0" err="1"/>
              <a:t>репо</a:t>
            </a:r>
            <a:r>
              <a:rPr lang="ru-RU" dirty="0"/>
              <a:t> </a:t>
            </a:r>
            <a:r>
              <a:rPr lang="en-US" dirty="0">
                <a:hlinkClick r:id="rId2"/>
              </a:rPr>
              <a:t>https://github.com/ruslanbektashev/cpp-course</a:t>
            </a:r>
            <a:r>
              <a:rPr lang="en-US" dirty="0"/>
              <a:t>.</a:t>
            </a:r>
          </a:p>
          <a:p>
            <a:r>
              <a:rPr lang="ru-RU" dirty="0"/>
              <a:t>Директории – самостоятельные работы</a:t>
            </a:r>
          </a:p>
          <a:p>
            <a:r>
              <a:rPr lang="ru-RU" dirty="0"/>
              <a:t>Отправка решения – </a:t>
            </a:r>
            <a:r>
              <a:rPr lang="en-US" dirty="0"/>
              <a:t>pull request (PR)</a:t>
            </a:r>
            <a:r>
              <a:rPr lang="ru-RU" dirty="0"/>
              <a:t> в ветку </a:t>
            </a:r>
            <a:r>
              <a:rPr lang="en-US" dirty="0"/>
              <a:t>master</a:t>
            </a:r>
            <a:endParaRPr lang="ru-RU" dirty="0"/>
          </a:p>
          <a:p>
            <a:r>
              <a:rPr lang="ru-RU" dirty="0"/>
              <a:t>Оформление – </a:t>
            </a:r>
            <a:r>
              <a:rPr lang="en-US" dirty="0">
                <a:hlinkClick r:id="rId3"/>
              </a:rPr>
              <a:t>Google Style Guide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F0D00D-F747-58FB-59D2-F64B1B829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724" y="3494799"/>
            <a:ext cx="2998076" cy="299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21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6328</TotalTime>
  <Words>1262</Words>
  <Application>Microsoft Macintosh PowerPoint</Application>
  <PresentationFormat>Widescreen</PresentationFormat>
  <Paragraphs>250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Проектирование больших систем на С++</vt:lpstr>
      <vt:lpstr>Актуальность С++ и С</vt:lpstr>
      <vt:lpstr>Анализ требований</vt:lpstr>
      <vt:lpstr>Анализ требований</vt:lpstr>
      <vt:lpstr>Анализ требований</vt:lpstr>
      <vt:lpstr>Анализ требований</vt:lpstr>
      <vt:lpstr>Анализ требований</vt:lpstr>
      <vt:lpstr>Анализ требований</vt:lpstr>
      <vt:lpstr>Анализ требований</vt:lpstr>
      <vt:lpstr>Проектирование и реализация</vt:lpstr>
      <vt:lpstr>Проектирование и реализация</vt:lpstr>
      <vt:lpstr>Проектирование и реализация</vt:lpstr>
      <vt:lpstr>Проектирование и реализация</vt:lpstr>
      <vt:lpstr>Сложность</vt:lpstr>
      <vt:lpstr>Сложность</vt:lpstr>
      <vt:lpstr>Сложность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Архитектура</vt:lpstr>
      <vt:lpstr>Тестирование</vt:lpstr>
      <vt:lpstr>Тестирование</vt:lpstr>
      <vt:lpstr>Тестирование</vt:lpstr>
      <vt:lpstr>Документация</vt:lpstr>
      <vt:lpstr>Документация</vt:lpstr>
      <vt:lpstr>Архитектура ПО</vt:lpstr>
      <vt:lpstr>Чего ждут от архитектора ПО?</vt:lpstr>
      <vt:lpstr>Пример</vt:lpstr>
      <vt:lpstr>Пример</vt:lpstr>
      <vt:lpstr>Пример</vt:lpstr>
      <vt:lpstr>Пример</vt:lpstr>
      <vt:lpstr>Самостоятельная работа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93</cp:revision>
  <dcterms:created xsi:type="dcterms:W3CDTF">2026-01-04T16:32:16Z</dcterms:created>
  <dcterms:modified xsi:type="dcterms:W3CDTF">2026-01-11T20:01:25Z</dcterms:modified>
</cp:coreProperties>
</file>