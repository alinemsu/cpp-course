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09" r:id="rId2"/>
    <p:sldId id="267" r:id="rId3"/>
    <p:sldId id="281" r:id="rId4"/>
    <p:sldId id="277" r:id="rId5"/>
    <p:sldId id="268" r:id="rId6"/>
    <p:sldId id="269" r:id="rId7"/>
    <p:sldId id="270" r:id="rId8"/>
    <p:sldId id="271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4C5D9-BBA6-DF4B-933A-69906E0A72D9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7E673-01CE-BC4A-9918-408E00489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963F1-35AA-A047-9237-14CA3F8C97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93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66EF-B4A5-575A-9943-3BC6CB18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EB075-FDDB-DE43-25CA-301170658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BF3DC-724F-7D19-0FF5-BCA194544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AE58B-F05A-E05A-95C2-BAC80147F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963F1-35AA-A047-9237-14CA3F8C97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9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AB2B-B265-AEFC-7911-AC3168DAA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C040E-F3E9-FBCD-2047-E2F5481B6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E2C35-B787-55EC-3FBF-4E2CACE1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DC935-AB7C-28F9-EA7A-CB0B1ABD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24F97-B0F7-18D8-1CC6-D8071B29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97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BE38-AF42-B4E5-8439-D813B839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8C567-97C4-71A9-3871-059D75E5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17AB-E213-644C-DCFF-78D55972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E8AA5-12F4-BAFD-50B4-2DA68B0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F85B0-A682-1D48-F9BC-2EB11BA8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2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26F6-C1FD-DE5B-5470-15302CA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BC44-B4A1-34C5-C906-DBA12691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EFAD-3A6C-D358-4B8D-E9036DF3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65C3C-B463-3E6C-FFB7-470E1845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E3C2-FAF0-070C-BF16-315AB21F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4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4BC9-053B-5FFE-B3E6-AFFE22AD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1011-50C2-51D5-DEEC-6B9A6B0AD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12CA4-9469-CEC0-C0EC-6A09CCDC2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29C6F-DF50-8A5E-EF44-F4A69132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4E988-6D46-8EA3-3E63-CAF42065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2E261-F8E7-EB68-92ED-6DD3EAF3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63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C2F9-FC91-6358-9EF3-42DA4D2D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60363-0286-A62D-8F0A-3379AD224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C70EE-3A57-F8C2-6E86-F4D8FC13D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594A2-8C7B-9981-CDC5-A55B8BA6E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1DD13-AB87-CC81-C1A1-46CC0893B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3A0F5-86BB-00BC-0F00-4C438890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9A9C6-A98A-C727-DB72-F5F62F8FF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AB32FC-8FBC-3C92-A245-8389CC02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0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834C-C503-291C-E27C-9B9F8BD0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DB060-04F8-0D13-CE34-47F575CB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54F9-D9C0-1D2D-E572-D0DB9AF3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FB74F-54DB-3175-32B6-B15A83E6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2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7A72F8-DC1C-E414-96C8-EB0FB24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A2001-84BB-2E63-9D2C-1260A742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6FFBB-372F-F825-C89C-351825EF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7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4CDF-8A4A-C12A-AA53-B37DF897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D904-5C47-6F04-A684-FD05658E0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33A05-09A7-273D-E261-50CEFA28B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3AF5F-7C37-941F-4568-240E2DB84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FD2DD-6205-E474-D081-10AFB970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146CD-BAC7-E288-8809-4ECCBC76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3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2036-551E-994F-67CF-AA7B46D6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25C99-4FE5-96B9-6900-410C28E29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04CDF-6716-9B8C-CF87-6CA7B3036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49897-B0AA-00C8-A5F1-6285FD0E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8B7C1-DDCF-E120-57DA-B75511CB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0C1AD-663F-E7A3-6018-EBA86230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6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7245-F9F2-1ED0-91A2-E5A4504A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54CF4-2BA8-996F-C182-6E57D6868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76329-68F3-45D8-C856-F3BADAB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613FC-7592-A9F3-490C-28275C57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E6D2-0FE6-000D-AB30-1BA0B82F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4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3804A-A3E8-DA39-6BC8-44CAC1FF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52F0A-F4FD-56F9-5EA4-7C47420FD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0EAF-A9BF-1B77-041E-D011CDCF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A153A-D461-1E03-B7D1-B067146F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BA9E-9872-70DD-5D66-A60A529A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2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F3C80-8802-ECE9-4D81-DC76195B0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B74AB-6BE8-EEF8-F8FE-6973B8275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41119-61CD-141B-2F97-48C46FF9E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24CE0-E4FB-BA49-9D1F-D9CEC2CF98D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96BF5-ED67-1607-7B7C-3B8807390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8AF78-18D6-7AF0-1D18-609104153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08E43-68D7-B64B-84CF-036F3803A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7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806F-4DDA-805D-1BFD-56FCA859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9AB4-FFF7-9D37-06F1-9AE785F1F9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394E6-85B2-5F28-5164-290C185B6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Совместимость С и С++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49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5A10-241C-2FEC-9129-9E93126C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A30C-DC3C-F1C2-D9E5-48E2FEBF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совместимость С++ и 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9FE0-0D02-6A6E-94E7-65EC1A87E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Да, но: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BDC684-B250-1160-5979-ED56F1A2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174"/>
          <a:stretch>
            <a:fillRect/>
          </a:stretch>
        </p:blipFill>
        <p:spPr>
          <a:xfrm>
            <a:off x="838200" y="2430298"/>
            <a:ext cx="4028090" cy="348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8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D1BE-198D-6658-3564-B43D18FA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8970-50D9-BDA4-3411-440B49F5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совместимость С++ и 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10B7-0070-041C-9F12-1188181F9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Да, но: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CA4ED0-1E73-3D98-6B59-1C6C8B283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0298"/>
            <a:ext cx="7772400" cy="348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B8A1-D0B6-0E43-6E30-753F707D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2517-C382-6747-99C0-540F3D02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совместимость С++ и 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A42D-C234-3F12-9B01-F2BF730D4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Компилятор </a:t>
            </a:r>
            <a:r>
              <a:rPr lang="en-US" b="1" dirty="0"/>
              <a:t>C++</a:t>
            </a:r>
            <a:r>
              <a:rPr lang="en-US" dirty="0"/>
              <a:t> </a:t>
            </a:r>
            <a:r>
              <a:rPr lang="ru-RU" dirty="0"/>
              <a:t>должен </a:t>
            </a:r>
            <a:r>
              <a:rPr lang="ru-RU" b="1" dirty="0"/>
              <a:t>компилировать </a:t>
            </a:r>
            <a:r>
              <a:rPr lang="en-US" b="1" dirty="0"/>
              <a:t>main()</a:t>
            </a:r>
            <a:br>
              <a:rPr lang="ru-RU" dirty="0"/>
            </a:br>
            <a:r>
              <a:rPr lang="en-US" dirty="0"/>
              <a:t>(</a:t>
            </a:r>
            <a:r>
              <a:rPr lang="ru-RU" dirty="0"/>
              <a:t>например, для статической инициализации)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Компилятор </a:t>
            </a:r>
            <a:r>
              <a:rPr lang="en-US" b="1" dirty="0"/>
              <a:t>C++</a:t>
            </a:r>
            <a:r>
              <a:rPr lang="en-US" dirty="0"/>
              <a:t> </a:t>
            </a:r>
            <a:r>
              <a:rPr lang="ru-RU" dirty="0"/>
              <a:t>должен </a:t>
            </a:r>
            <a:r>
              <a:rPr lang="ru-RU" b="1" dirty="0"/>
              <a:t>управлять общим процессом сборки</a:t>
            </a:r>
            <a:br>
              <a:rPr lang="ru-RU" dirty="0"/>
            </a:br>
            <a:r>
              <a:rPr lang="ru-RU" dirty="0"/>
              <a:t>(например, чтобы получить свои специальные библиотеки)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Компиляторы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C++ </a:t>
            </a:r>
            <a:r>
              <a:rPr lang="ru-RU" dirty="0"/>
              <a:t>должны иметь </a:t>
            </a:r>
            <a:r>
              <a:rPr lang="ru-RU" b="1" dirty="0"/>
              <a:t>совместимые версии </a:t>
            </a:r>
            <a:r>
              <a:rPr lang="ru-RU" dirty="0"/>
              <a:t>и, желательно, быть от одного поставщика </a:t>
            </a:r>
            <a:br>
              <a:rPr lang="ru-RU" dirty="0"/>
            </a:br>
            <a:r>
              <a:rPr lang="ru-RU" dirty="0"/>
              <a:t>(например, одинаковые соглашения о вызовах)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38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D470-C48F-164E-4665-ED983E8D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3915-84C5-E0B5-7079-23B46182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совместимость С++ и 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C8B1D-7FA4-7030-6352-C8A922B04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B9DF5-37C4-54B3-BE52-0E458C226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2004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7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BB7BE-4A4B-9F75-CECC-89243003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3C90-03FD-EA0D-CDF7-D8727F5B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Совместимость С и С++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756D-56E5-3439-DF2F-ABB80C64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0E027-859A-7FEF-3C55-7916971D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2004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4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C647C-A92C-4424-9C40-E9AED413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1F1D-C669-BB00-1198-C34A70B4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Совместимость С и С++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2B002-0ACB-BBBB-9B1A-65D226865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8CF61-70DD-D514-0EBA-73DB1A2E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1944"/>
            <a:ext cx="4318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5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B38C-86D0-1665-5EA5-D301874E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A630-F964-FE97-045E-CC1C5CE3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Совместимость С и С++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71FD7-A3B6-EAF4-2DBE-17D7CF4C0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7FD67-0055-F22A-6ED3-F73900EE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3561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9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0E74-5B0B-19D9-1E15-B14179CE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F84B-EBB4-BE05-C7B6-37478F5B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Совместимость С и С++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D1B1-6079-F4D3-2FED-58B965118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b="1" dirty="0"/>
              <a:t>Искажение имен </a:t>
            </a:r>
            <a:r>
              <a:rPr lang="en-US" sz="2400" b="1" dirty="0"/>
              <a:t>(name mangling)</a:t>
            </a:r>
            <a:r>
              <a:rPr lang="en-US" sz="2400" dirty="0"/>
              <a:t> </a:t>
            </a:r>
            <a:r>
              <a:rPr lang="ru-RU" sz="2400" dirty="0"/>
              <a:t>– способность языка С++ кодировать имена для поддержки классов, пространств имен и перегрузки функций.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F6D29-8CA9-673F-E343-F4662E56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4463"/>
            <a:ext cx="60706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5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DF5DC-C51C-D1C0-A23E-935A8780E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BD65-D52F-7EB0-CCD0-0BE7AD7A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Совместимость С и С++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5BB91E-8E33-46DC-D8BC-78150BF9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125"/>
            <a:ext cx="10515600" cy="2001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6BB5BF-9F5E-594B-617D-04F43231A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3053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6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861E-71ED-B984-29A1-80EB98385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3830-FB67-20B9-0D19-09768347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Совместимость С и С++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CF7908-DB13-0C82-2729-903026FE4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Можно безопасно получить доступ к данным объекта класса </a:t>
            </a:r>
            <a:r>
              <a:rPr lang="en-US" dirty="0"/>
              <a:t>C++ </a:t>
            </a:r>
            <a:r>
              <a:rPr lang="ru-RU" dirty="0"/>
              <a:t>напрямую из функции на </a:t>
            </a:r>
            <a:r>
              <a:rPr lang="en-US" dirty="0"/>
              <a:t>C, </a:t>
            </a:r>
            <a:r>
              <a:rPr lang="ru-RU" dirty="0"/>
              <a:t>если класс:</a:t>
            </a:r>
          </a:p>
          <a:p>
            <a:r>
              <a:rPr lang="ru-RU" b="1" dirty="0"/>
              <a:t>не имеет виртуальных функций </a:t>
            </a:r>
            <a:br>
              <a:rPr lang="ru-RU" dirty="0"/>
            </a:br>
            <a:r>
              <a:rPr lang="ru-RU" dirty="0"/>
              <a:t>(включая унаследованные виртуальные функции)</a:t>
            </a:r>
          </a:p>
          <a:p>
            <a:r>
              <a:rPr lang="ru-RU" b="1" dirty="0"/>
              <a:t>имеет все данные в одном разделе уровня доступа 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private/protected/public)</a:t>
            </a:r>
          </a:p>
          <a:p>
            <a:r>
              <a:rPr lang="ru-RU" b="1" dirty="0"/>
              <a:t>не имеет включённых объектов с виртуальными функциями</a:t>
            </a:r>
          </a:p>
          <a:p>
            <a:pPr marL="0" indent="0">
              <a:buNone/>
            </a:pPr>
            <a:r>
              <a:rPr lang="ru-RU" dirty="0"/>
              <a:t>Формально нельзя, но на практике возможно, если класс </a:t>
            </a:r>
            <a:r>
              <a:rPr lang="en-US" dirty="0"/>
              <a:t>C++ </a:t>
            </a:r>
            <a:r>
              <a:rPr lang="ru-RU" dirty="0"/>
              <a:t>имеет какие-либо:</a:t>
            </a:r>
          </a:p>
          <a:p>
            <a:r>
              <a:rPr lang="ru-RU" b="1" dirty="0"/>
              <a:t>базовые классы вообще </a:t>
            </a:r>
            <a:br>
              <a:rPr lang="ru-RU" dirty="0"/>
            </a:br>
            <a:r>
              <a:rPr lang="ru-RU" dirty="0"/>
              <a:t>(или если какие-либо включённые объекты имеют базовые классы)</a:t>
            </a:r>
          </a:p>
          <a:p>
            <a:r>
              <a:rPr lang="ru-RU" b="1" dirty="0"/>
              <a:t>виртуальные базовые классы </a:t>
            </a:r>
            <a:br>
              <a:rPr lang="ru-RU" dirty="0"/>
            </a:br>
            <a:r>
              <a:rPr lang="ru-RU" dirty="0"/>
              <a:t>(объект ещё сложнее и менее переносим.)</a:t>
            </a:r>
          </a:p>
        </p:txBody>
      </p:sp>
    </p:spTree>
    <p:extLst>
      <p:ext uri="{BB962C8B-B14F-4D97-AF65-F5344CB8AC3E}">
        <p14:creationId xmlns:p14="http://schemas.microsoft.com/office/powerpoint/2010/main" val="27392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</Words>
  <Application>Microsoft Macintosh PowerPoint</Application>
  <PresentationFormat>Widescreen</PresentationFormat>
  <Paragraphs>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Проектирование больших систем на С++</vt:lpstr>
      <vt:lpstr>Обратная совместимость С++ и С</vt:lpstr>
      <vt:lpstr>Обратная совместимость С++ и С</vt:lpstr>
      <vt:lpstr>Обратная совместимость С++ и С</vt:lpstr>
      <vt:lpstr>Обратная совместимость С++ и С</vt:lpstr>
      <vt:lpstr>Совместимость С и С++</vt:lpstr>
      <vt:lpstr>Совместимость С и С++</vt:lpstr>
      <vt:lpstr>Совместимость С и С++</vt:lpstr>
      <vt:lpstr>Совместимость С и С++</vt:lpstr>
      <vt:lpstr>Совместимость С и С++</vt:lpstr>
      <vt:lpstr>Совместимость С и С++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2026-01-11T13:03:46Z</dcterms:created>
  <dcterms:modified xsi:type="dcterms:W3CDTF">2026-01-11T13:04:59Z</dcterms:modified>
</cp:coreProperties>
</file>